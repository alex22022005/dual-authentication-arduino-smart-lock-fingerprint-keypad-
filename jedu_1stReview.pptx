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7315200" cy="96012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Century Schoolbook" panose="02040604050505020304" pitchFamily="18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fY6bhIY/DSunl4itKj+MBqQJ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:notes"/>
          <p:cNvSpPr txBox="1"/>
          <p:nvPr/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:notes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19EE6911- MINI PROJECT              III EEE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" name="Google Shape;1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0"/>
          <p:cNvSpPr/>
          <p:nvPr/>
        </p:nvSpPr>
        <p:spPr>
          <a:xfrm>
            <a:off x="276225" y="0"/>
            <a:ext cx="104775" cy="6858000"/>
          </a:xfrm>
          <a:prstGeom prst="rect">
            <a:avLst/>
          </a:prstGeom>
          <a:solidFill>
            <a:srgbClr val="FFD8CC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/>
          <p:nvPr/>
        </p:nvSpPr>
        <p:spPr>
          <a:xfrm>
            <a:off x="990600" y="0"/>
            <a:ext cx="182563" cy="6858000"/>
          </a:xfrm>
          <a:prstGeom prst="rect">
            <a:avLst/>
          </a:prstGeom>
          <a:solidFill>
            <a:srgbClr val="FFD8CC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0"/>
          <p:cNvSpPr/>
          <p:nvPr/>
        </p:nvSpPr>
        <p:spPr>
          <a:xfrm>
            <a:off x="1141413" y="0"/>
            <a:ext cx="230187" cy="6858000"/>
          </a:xfrm>
          <a:prstGeom prst="rect">
            <a:avLst/>
          </a:prstGeom>
          <a:solidFill>
            <a:srgbClr val="FFEDE7">
              <a:alpha val="7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0"/>
          <p:cNvCxnSpPr/>
          <p:nvPr/>
        </p:nvCxnSpPr>
        <p:spPr>
          <a:xfrm>
            <a:off x="106363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2AC">
                <a:alpha val="7294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20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FEDE7">
                <a:alpha val="82745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" name="Google Shape;43;p20"/>
          <p:cNvCxnSpPr/>
          <p:nvPr/>
        </p:nvCxnSpPr>
        <p:spPr>
          <a:xfrm>
            <a:off x="854075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" name="Google Shape;44;p20"/>
          <p:cNvCxnSpPr/>
          <p:nvPr/>
        </p:nvCxnSpPr>
        <p:spPr>
          <a:xfrm>
            <a:off x="1727200" y="0"/>
            <a:ext cx="0" cy="6858000"/>
          </a:xfrm>
          <a:prstGeom prst="straightConnector1">
            <a:avLst/>
          </a:prstGeom>
          <a:noFill/>
          <a:ln w="28575" cap="flat" cmpd="sng">
            <a:solidFill>
              <a:srgbClr val="FEC2AC">
                <a:alpha val="8196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20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46;p20"/>
          <p:cNvCxnSpPr/>
          <p:nvPr/>
        </p:nvCxnSpPr>
        <p:spPr>
          <a:xfrm>
            <a:off x="9113838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20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0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0"/>
          <p:cNvSpPr/>
          <p:nvPr/>
        </p:nvSpPr>
        <p:spPr>
          <a:xfrm>
            <a:off x="1309688" y="4867275"/>
            <a:ext cx="641350" cy="641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/>
          <p:nvPr/>
        </p:nvSpPr>
        <p:spPr>
          <a:xfrm>
            <a:off x="1090613" y="5500688"/>
            <a:ext cx="138112" cy="1365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1663700" y="5788025"/>
            <a:ext cx="274638" cy="2746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0"/>
          <p:cNvSpPr txBox="1"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 rot="5400000">
            <a:off x="7764463" y="11747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 rot="5400000">
            <a:off x="7077076" y="4181475"/>
            <a:ext cx="36576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1325563" y="4929188"/>
            <a:ext cx="60960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1"/>
          <p:cNvSpPr/>
          <p:nvPr/>
        </p:nvSpPr>
        <p:spPr>
          <a:xfrm>
            <a:off x="276225" y="0"/>
            <a:ext cx="104775" cy="6858000"/>
          </a:xfrm>
          <a:prstGeom prst="rect">
            <a:avLst/>
          </a:prstGeom>
          <a:solidFill>
            <a:srgbClr val="FFD8CC">
              <a:alpha val="3568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1"/>
          <p:cNvSpPr/>
          <p:nvPr/>
        </p:nvSpPr>
        <p:spPr>
          <a:xfrm>
            <a:off x="990600" y="0"/>
            <a:ext cx="182563" cy="6858000"/>
          </a:xfrm>
          <a:prstGeom prst="rect">
            <a:avLst/>
          </a:prstGeom>
          <a:solidFill>
            <a:srgbClr val="FFD8CC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1"/>
          <p:cNvSpPr/>
          <p:nvPr/>
        </p:nvSpPr>
        <p:spPr>
          <a:xfrm>
            <a:off x="1141413" y="0"/>
            <a:ext cx="230187" cy="6858000"/>
          </a:xfrm>
          <a:prstGeom prst="rect">
            <a:avLst/>
          </a:prstGeom>
          <a:solidFill>
            <a:srgbClr val="FFEDE7">
              <a:alpha val="7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21"/>
          <p:cNvCxnSpPr/>
          <p:nvPr/>
        </p:nvCxnSpPr>
        <p:spPr>
          <a:xfrm>
            <a:off x="106363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2AC">
                <a:alpha val="7294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21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FEDE7">
                <a:alpha val="82745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21"/>
          <p:cNvCxnSpPr/>
          <p:nvPr/>
        </p:nvCxnSpPr>
        <p:spPr>
          <a:xfrm>
            <a:off x="854075" y="0"/>
            <a:ext cx="0" cy="6858000"/>
          </a:xfrm>
          <a:prstGeom prst="straightConnector1">
            <a:avLst/>
          </a:prstGeom>
          <a:noFill/>
          <a:ln w="5715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21"/>
          <p:cNvCxnSpPr/>
          <p:nvPr/>
        </p:nvCxnSpPr>
        <p:spPr>
          <a:xfrm>
            <a:off x="1727200" y="0"/>
            <a:ext cx="0" cy="6858000"/>
          </a:xfrm>
          <a:prstGeom prst="straightConnector1">
            <a:avLst/>
          </a:prstGeom>
          <a:noFill/>
          <a:ln w="28575" cap="flat" cmpd="sng">
            <a:solidFill>
              <a:srgbClr val="FEC2AC">
                <a:alpha val="8196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21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" name="Google Shape;68;p21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1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1"/>
          <p:cNvSpPr/>
          <p:nvPr/>
        </p:nvSpPr>
        <p:spPr>
          <a:xfrm>
            <a:off x="1323975" y="4867275"/>
            <a:ext cx="642938" cy="641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1090613" y="5500688"/>
            <a:ext cx="138112" cy="1365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1663700" y="5791200"/>
            <a:ext cx="274638" cy="2746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1"/>
          <p:cNvSpPr/>
          <p:nvPr/>
        </p:nvSpPr>
        <p:spPr>
          <a:xfrm>
            <a:off x="1879600" y="4479925"/>
            <a:ext cx="365125" cy="365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21"/>
          <p:cNvCxnSpPr/>
          <p:nvPr/>
        </p:nvCxnSpPr>
        <p:spPr>
          <a:xfrm>
            <a:off x="9097963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  <a:defRPr sz="3000" b="1" cap="small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>
                <a:solidFill>
                  <a:schemeClr val="lt2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52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 rot="5400000">
            <a:off x="7762875" y="1169988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 rot="5400000">
            <a:off x="7077076" y="4178300"/>
            <a:ext cx="36576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1339850" y="4929188"/>
            <a:ext cx="60960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2"/>
          </p:nvPr>
        </p:nvSpPr>
        <p:spPr>
          <a:xfrm>
            <a:off x="4270248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>
            <a:off x="457200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2"/>
          </p:nvPr>
        </p:nvSpPr>
        <p:spPr>
          <a:xfrm>
            <a:off x="4371975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>
            <a:spLocks noGrp="1"/>
          </p:cNvSpPr>
          <p:nvPr>
            <p:ph type="body" idx="3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>
            <a:spLocks noGrp="1"/>
          </p:cNvSpPr>
          <p:nvPr>
            <p:ph type="body" idx="4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4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>
                <a:alpha val="9294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" name="Google Shape;98;p24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9" name="Google Shape;99;p24"/>
          <p:cNvCxnSpPr/>
          <p:nvPr/>
        </p:nvCxnSpPr>
        <p:spPr>
          <a:xfrm>
            <a:off x="6192838" y="0"/>
            <a:ext cx="0" cy="68580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0" name="Google Shape;100;p24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24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24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24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4"/>
          <p:cNvSpPr txBox="1"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sz="2000" b="1" cap="small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6812280" y="274320"/>
            <a:ext cx="1527048" cy="498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84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612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304800" y="274320"/>
            <a:ext cx="5638800" cy="632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25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2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5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25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25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25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25"/>
          <p:cNvCxnSpPr/>
          <p:nvPr/>
        </p:nvCxnSpPr>
        <p:spPr>
          <a:xfrm>
            <a:off x="6192838" y="0"/>
            <a:ext cx="0" cy="685800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25"/>
          <p:cNvSpPr txBox="1"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>
            <a:spLocks noGrp="1"/>
          </p:cNvSpPr>
          <p:nvPr>
            <p:ph type="pic" idx="2"/>
          </p:nvPr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0" name="Google Shape;120;p25"/>
          <p:cNvSpPr txBox="1">
            <a:spLocks noGrp="1"/>
          </p:cNvSpPr>
          <p:nvPr>
            <p:ph type="body" idx="1"/>
          </p:nvPr>
        </p:nvSpPr>
        <p:spPr>
          <a:xfrm>
            <a:off x="6765798" y="264795"/>
            <a:ext cx="1524000" cy="495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SzPts val="840"/>
              <a:buFont typeface="Century Schoolbook"/>
              <a:buNone/>
              <a:defRPr sz="1200"/>
            </a:lvl1pPr>
            <a:lvl2pPr marL="914400" lvl="1" indent="-289560" algn="l">
              <a:spcBef>
                <a:spcPts val="400"/>
              </a:spcBef>
              <a:spcAft>
                <a:spcPts val="0"/>
              </a:spcAft>
              <a:buSzPts val="960"/>
              <a:buChar char="⚫"/>
              <a:defRPr sz="1200"/>
            </a:lvl2pPr>
            <a:lvl3pPr marL="1371600" lvl="2" indent="-266700" algn="l">
              <a:spcBef>
                <a:spcPts val="200"/>
              </a:spcBef>
              <a:spcAft>
                <a:spcPts val="0"/>
              </a:spcAft>
              <a:buSzPts val="600"/>
              <a:buChar char="🞆"/>
              <a:defRPr sz="1000"/>
            </a:lvl3pPr>
            <a:lvl4pPr marL="1828800" lvl="3" indent="-262889" algn="l">
              <a:spcBef>
                <a:spcPts val="180"/>
              </a:spcBef>
              <a:spcAft>
                <a:spcPts val="0"/>
              </a:spcAft>
              <a:buSzPts val="540"/>
              <a:buChar char="🞆"/>
              <a:defRPr sz="900"/>
            </a:lvl4pPr>
            <a:lvl5pPr marL="2286000" lvl="4" indent="-267461" algn="l">
              <a:spcBef>
                <a:spcPts val="180"/>
              </a:spcBef>
              <a:spcAft>
                <a:spcPts val="0"/>
              </a:spcAft>
              <a:buSzPts val="612"/>
              <a:buChar char="⚫"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1"/>
          </p:nvPr>
        </p:nvSpPr>
        <p:spPr>
          <a:xfrm rot="5400000">
            <a:off x="1754188" y="303213"/>
            <a:ext cx="4873625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>
            <a:spLocks noGrp="1"/>
          </p:cNvSpPr>
          <p:nvPr>
            <p:ph type="title"/>
          </p:nvPr>
        </p:nvSpPr>
        <p:spPr>
          <a:xfrm rot="5400000">
            <a:off x="4541838" y="2362202"/>
            <a:ext cx="5851525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marL="1371600" lvl="2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marL="1828800" lvl="3" indent="-29718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marL="2286000" lvl="4" indent="-306323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6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EC2AC">
                <a:alpha val="92941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5280" algn="l" rtl="0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20039" algn="l" rtl="0">
              <a:spcBef>
                <a:spcPts val="480"/>
              </a:spcBef>
              <a:spcAft>
                <a:spcPts val="0"/>
              </a:spcAft>
              <a:buClr>
                <a:srgbClr val="E0752F"/>
              </a:buClr>
              <a:buSzPts val="1440"/>
              <a:buFont typeface="Noto Sans Symbols"/>
              <a:buChar char="🞆"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04800" algn="l" rtl="0">
              <a:spcBef>
                <a:spcPts val="400"/>
              </a:spcBef>
              <a:spcAft>
                <a:spcPts val="0"/>
              </a:spcAft>
              <a:buClr>
                <a:srgbClr val="FEC3AE"/>
              </a:buClr>
              <a:buSzPts val="1200"/>
              <a:buFont typeface="Noto Sans Symbols"/>
              <a:buChar char="🞆"/>
              <a:defRPr sz="20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7688" algn="l" rtl="0">
              <a:spcBef>
                <a:spcPts val="320"/>
              </a:spcBef>
              <a:spcAft>
                <a:spcPts val="0"/>
              </a:spcAft>
              <a:buClr>
                <a:srgbClr val="BDCAE9"/>
              </a:buClr>
              <a:buSzPts val="1088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sz="16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81939" algn="l" rtl="0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sz="1400" b="0" i="0" u="none" strike="noStrike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sz="1400" b="0" i="0" u="none" strike="noStrike" cap="non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ftr" idx="11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" name="Google Shape;15;p16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w="57150" cap="flat" cmpd="thickThin">
            <a:solidFill>
              <a:srgbClr val="FEC2A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6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6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6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16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stat.org/index.php/MSEA/article/view/237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sai.org/Publications/ViewPaper?Code=IJACSA&amp;Issue=7&amp;SerialNo=92&amp;Volume=12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/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DDCB4E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fld>
            <a:endParaRPr sz="1200" b="0" i="0" u="none" strike="noStrike" cap="none">
              <a:solidFill>
                <a:srgbClr val="DDCB4E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0" y="0"/>
            <a:ext cx="8643900" cy="3724800"/>
          </a:xfrm>
          <a:prstGeom prst="rect">
            <a:avLst/>
          </a:prstGeom>
          <a:solidFill>
            <a:srgbClr val="CDD4E5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21EE6912 - MINI PROJECT / INTERNSHIP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sng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400" dirty="0" err="1">
                <a:solidFill>
                  <a:schemeClr val="dk1"/>
                </a:solidFill>
              </a:rPr>
              <a:t>IntelliLock</a:t>
            </a:r>
            <a:r>
              <a:rPr lang="en-US" sz="4400" dirty="0">
                <a:solidFill>
                  <a:schemeClr val="dk1"/>
                </a:solidFill>
              </a:rPr>
              <a:t>: Dual Authentication Smart Door System</a:t>
            </a:r>
            <a:endParaRPr sz="44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4400" dirty="0">
              <a:solidFill>
                <a:schemeClr val="dk1"/>
              </a:solidFill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85770" y="3790910"/>
            <a:ext cx="7715304" cy="252376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HARISH RAJ M (95072213013)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RAKESH KANNA V (95072213036)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THIVITH J (95072213051)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KARTHICK KUMAR M (95072213303)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 txBox="1"/>
          <p:nvPr/>
        </p:nvSpPr>
        <p:spPr>
          <a:xfrm>
            <a:off x="1928794" y="5429264"/>
            <a:ext cx="6215106" cy="13234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Dr.A.Ravi                       Mr.J.Antony Robinson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HOD/EEE                                 AP/EEE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Mini Project                          Mini Project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Guide                               Coordinator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2228215" y="2959976"/>
            <a:ext cx="4500594" cy="785818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Review 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285720" y="5857892"/>
            <a:ext cx="1571636" cy="642942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26.02.2025 </a:t>
            </a:r>
            <a:endParaRPr/>
          </a:p>
        </p:txBody>
      </p:sp>
      <p:sp>
        <p:nvSpPr>
          <p:cNvPr id="148" name="Google Shape;148;p1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49" name="Google Shape;149;p1" descr="logo-admiss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2228215" cy="785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" descr="downloa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58148" y="-635"/>
            <a:ext cx="1285852" cy="929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6" name="Google Shape;156;p2"/>
          <p:cNvSpPr txBox="1">
            <a:spLocks noGrp="1"/>
          </p:cNvSpPr>
          <p:nvPr>
            <p:ph type="title"/>
          </p:nvPr>
        </p:nvSpPr>
        <p:spPr>
          <a:xfrm>
            <a:off x="190710" y="311953"/>
            <a:ext cx="8715436" cy="58259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Cambria"/>
                <a:ea typeface="Cambria"/>
                <a:cs typeface="Cambria"/>
                <a:sym typeface="Cambria"/>
              </a:rPr>
              <a:t>Objectives of the project work</a:t>
            </a:r>
            <a:endParaRPr sz="36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26575" y="1078375"/>
            <a:ext cx="8243700" cy="5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Enhance Security</a:t>
            </a:r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 – Implement a dual authentication mechanism (keypad + fingerprint sensor) to improve access control.</a:t>
            </a:r>
            <a:endParaRPr sz="2700" dirty="0">
              <a:latin typeface="Arial" panose="020B0604020202020204" pitchFamily="34" charset="0"/>
              <a:ea typeface="Comic Sans MS"/>
              <a:cs typeface="Arial" panose="020B0604020202020204" pitchFamily="34" charset="0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Arial" panose="020B0604020202020204" pitchFamily="34" charset="0"/>
              <a:ea typeface="Comic Sans MS"/>
              <a:cs typeface="Arial" panose="020B0604020202020204" pitchFamily="34" charset="0"/>
              <a:sym typeface="Comic Sans MS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Prevent Unauthorized Access</a:t>
            </a:r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 – Restrict entry to authorized users by verifying both a passcode and biometric data.</a:t>
            </a:r>
            <a:endParaRPr sz="2400" dirty="0">
              <a:latin typeface="Arial" panose="020B0604020202020204" pitchFamily="34" charset="0"/>
              <a:ea typeface="Comic Sans MS"/>
              <a:cs typeface="Arial" panose="020B0604020202020204" pitchFamily="34" charset="0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Arial" panose="020B0604020202020204" pitchFamily="34" charset="0"/>
              <a:ea typeface="Comic Sans MS"/>
              <a:cs typeface="Arial" panose="020B0604020202020204" pitchFamily="34" charset="0"/>
              <a:sym typeface="Comic Sans MS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Automate Door Locking</a:t>
            </a:r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 – Use a servo motor to automatically lock and unlock the door based on authentication results.</a:t>
            </a:r>
            <a:endParaRPr sz="2400" dirty="0">
              <a:solidFill>
                <a:schemeClr val="dk1"/>
              </a:solidFill>
              <a:latin typeface="Arial" panose="020B0604020202020204" pitchFamily="34" charset="0"/>
              <a:ea typeface="Comic Sans MS"/>
              <a:cs typeface="Arial" panose="020B0604020202020204" pitchFamily="34" charset="0"/>
              <a:sym typeface="Comic Sans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Arial" panose="020B0604020202020204" pitchFamily="34" charset="0"/>
              <a:ea typeface="Comic Sans MS"/>
              <a:cs typeface="Arial" panose="020B0604020202020204" pitchFamily="34" charset="0"/>
              <a:sym typeface="Comic Sans MS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User-Friendly and Cost-Effective</a:t>
            </a:r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ea typeface="Comic Sans MS"/>
                <a:cs typeface="Arial" panose="020B0604020202020204" pitchFamily="34" charset="0"/>
                <a:sym typeface="Comic Sans MS"/>
              </a:rPr>
              <a:t> – Develop a simple, affordable, and efficient smart door lock system using Arduino.</a:t>
            </a:r>
            <a:endParaRPr sz="2400" dirty="0">
              <a:latin typeface="Arial" panose="020B0604020202020204" pitchFamily="34" charset="0"/>
              <a:ea typeface="Comic Sans MS"/>
              <a:cs typeface="Arial" panose="020B0604020202020204" pitchFamily="34" charset="0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63" name="Google Shape;163;p3"/>
          <p:cNvSpPr txBox="1">
            <a:spLocks noGrp="1"/>
          </p:cNvSpPr>
          <p:nvPr>
            <p:ph type="title"/>
          </p:nvPr>
        </p:nvSpPr>
        <p:spPr>
          <a:xfrm>
            <a:off x="142844" y="131763"/>
            <a:ext cx="8715436" cy="58259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Cambria"/>
                <a:ea typeface="Cambria"/>
                <a:cs typeface="Cambria"/>
                <a:sym typeface="Cambria"/>
              </a:rPr>
              <a:t>Abstract of the project work</a:t>
            </a:r>
            <a:endParaRPr sz="36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655707" y="1445259"/>
            <a:ext cx="80835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</a:rPr>
              <a:t>IntelliLock</a:t>
            </a:r>
            <a:r>
              <a:rPr lang="en-US" sz="2400" dirty="0">
                <a:solidFill>
                  <a:schemeClr val="dk1"/>
                </a:solidFill>
              </a:rPr>
              <a:t> is a smart door security system that uses </a:t>
            </a:r>
            <a:r>
              <a:rPr lang="en-US" sz="2400" b="1" dirty="0">
                <a:solidFill>
                  <a:schemeClr val="dk1"/>
                </a:solidFill>
              </a:rPr>
              <a:t>dual authentication</a:t>
            </a:r>
            <a:r>
              <a:rPr lang="en-US" sz="2400" dirty="0">
                <a:solidFill>
                  <a:schemeClr val="dk1"/>
                </a:solidFill>
              </a:rPr>
              <a:t>—a </a:t>
            </a:r>
            <a:r>
              <a:rPr lang="en-US" sz="2400" b="1" dirty="0">
                <a:solidFill>
                  <a:schemeClr val="dk1"/>
                </a:solidFill>
              </a:rPr>
              <a:t>keypad PIN</a:t>
            </a:r>
            <a:r>
              <a:rPr lang="en-US" sz="2400" dirty="0">
                <a:solidFill>
                  <a:schemeClr val="dk1"/>
                </a:solidFill>
              </a:rPr>
              <a:t> and a </a:t>
            </a:r>
            <a:r>
              <a:rPr lang="en-US" sz="2400" b="1" dirty="0">
                <a:solidFill>
                  <a:schemeClr val="dk1"/>
                </a:solidFill>
              </a:rPr>
              <a:t>fingerprint sensor</a:t>
            </a:r>
            <a:r>
              <a:rPr lang="en-US" sz="2400" dirty="0">
                <a:solidFill>
                  <a:schemeClr val="dk1"/>
                </a:solidFill>
              </a:rPr>
              <a:t>—to restrict unauthorized access. Built with </a:t>
            </a:r>
            <a:r>
              <a:rPr lang="en-US" sz="2400" b="1" dirty="0">
                <a:solidFill>
                  <a:schemeClr val="dk1"/>
                </a:solidFill>
              </a:rPr>
              <a:t>Arduino Uno</a:t>
            </a:r>
            <a:r>
              <a:rPr lang="en-US" sz="2400" dirty="0">
                <a:solidFill>
                  <a:schemeClr val="dk1"/>
                </a:solidFill>
              </a:rPr>
              <a:t>, a </a:t>
            </a:r>
            <a:r>
              <a:rPr lang="en-US" sz="2400" b="1" dirty="0">
                <a:solidFill>
                  <a:schemeClr val="dk1"/>
                </a:solidFill>
              </a:rPr>
              <a:t>servo motor</a:t>
            </a:r>
            <a:r>
              <a:rPr lang="en-US" sz="2400" dirty="0">
                <a:solidFill>
                  <a:schemeClr val="dk1"/>
                </a:solidFill>
              </a:rPr>
              <a:t>, and a </a:t>
            </a:r>
            <a:r>
              <a:rPr lang="en-US" sz="2400" b="1" dirty="0">
                <a:solidFill>
                  <a:schemeClr val="dk1"/>
                </a:solidFill>
              </a:rPr>
              <a:t>relay module</a:t>
            </a:r>
            <a:r>
              <a:rPr lang="en-US" sz="2400" dirty="0">
                <a:solidFill>
                  <a:schemeClr val="dk1"/>
                </a:solidFill>
              </a:rPr>
              <a:t>, the system ensures secure and automated door locking. If both credentials match, the door unlocks; otherwise, access is denied. This project offers a </a:t>
            </a:r>
            <a:r>
              <a:rPr lang="en-US" sz="2400" b="1" dirty="0">
                <a:solidFill>
                  <a:schemeClr val="dk1"/>
                </a:solidFill>
              </a:rPr>
              <a:t>cost-effective and reliable</a:t>
            </a:r>
            <a:r>
              <a:rPr lang="en-US" sz="2400" dirty="0">
                <a:solidFill>
                  <a:schemeClr val="dk1"/>
                </a:solidFill>
              </a:rPr>
              <a:t> security solution for homes and offices.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214282" y="234251"/>
            <a:ext cx="8715436" cy="58259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cap="small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sz="3600" b="1" cap="small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539612" y="1565253"/>
            <a:ext cx="7590000" cy="4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❖"/>
            </a:pPr>
            <a:r>
              <a:rPr lang="en-US" sz="2300" dirty="0">
                <a:solidFill>
                  <a:schemeClr val="dk1"/>
                </a:solidFill>
              </a:rPr>
              <a:t>Traditional locks can be easily bypassed, making security a critical concern. </a:t>
            </a:r>
            <a:r>
              <a:rPr lang="en-US" sz="2300" b="1" dirty="0" err="1">
                <a:solidFill>
                  <a:schemeClr val="dk1"/>
                </a:solidFill>
              </a:rPr>
              <a:t>IntelliLock</a:t>
            </a:r>
            <a:r>
              <a:rPr lang="en-US" sz="2300" b="1" dirty="0">
                <a:solidFill>
                  <a:schemeClr val="dk1"/>
                </a:solidFill>
              </a:rPr>
              <a:t>: Dual Authentication Smart Door System</a:t>
            </a:r>
            <a:r>
              <a:rPr lang="en-US" sz="2300" dirty="0">
                <a:solidFill>
                  <a:schemeClr val="dk1"/>
                </a:solidFill>
              </a:rPr>
              <a:t> enhances security by combining </a:t>
            </a:r>
            <a:r>
              <a:rPr lang="en-US" sz="2300" b="1" dirty="0">
                <a:solidFill>
                  <a:schemeClr val="dk1"/>
                </a:solidFill>
              </a:rPr>
              <a:t>keypad PIN entry</a:t>
            </a:r>
            <a:r>
              <a:rPr lang="en-US" sz="2300" dirty="0">
                <a:solidFill>
                  <a:schemeClr val="dk1"/>
                </a:solidFill>
              </a:rPr>
              <a:t> and </a:t>
            </a:r>
            <a:r>
              <a:rPr lang="en-US" sz="2300" b="1" dirty="0">
                <a:solidFill>
                  <a:schemeClr val="dk1"/>
                </a:solidFill>
              </a:rPr>
              <a:t>biometric fingerprint authentication</a:t>
            </a:r>
            <a:r>
              <a:rPr lang="en-US" sz="2300" dirty="0">
                <a:solidFill>
                  <a:schemeClr val="dk1"/>
                </a:solidFill>
              </a:rPr>
              <a:t>. This ensures that only authorized users gain access.</a:t>
            </a:r>
            <a:r>
              <a:rPr lang="en-US" sz="2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300" dirty="0"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8575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❖"/>
            </a:pPr>
            <a:r>
              <a:rPr lang="en-US" sz="2300" dirty="0">
                <a:solidFill>
                  <a:schemeClr val="dk1"/>
                </a:solidFill>
              </a:rPr>
              <a:t>The system is powered by </a:t>
            </a:r>
            <a:r>
              <a:rPr lang="en-US" sz="2300" b="1" dirty="0">
                <a:solidFill>
                  <a:schemeClr val="dk1"/>
                </a:solidFill>
              </a:rPr>
              <a:t>Arduino Uno</a:t>
            </a:r>
            <a:r>
              <a:rPr lang="en-US" sz="2300" dirty="0">
                <a:solidFill>
                  <a:schemeClr val="dk1"/>
                </a:solidFill>
              </a:rPr>
              <a:t>, which controls a </a:t>
            </a:r>
            <a:r>
              <a:rPr lang="en-US" sz="2300" b="1" dirty="0">
                <a:solidFill>
                  <a:schemeClr val="dk1"/>
                </a:solidFill>
              </a:rPr>
              <a:t>servo motor</a:t>
            </a:r>
            <a:r>
              <a:rPr lang="en-US" sz="2300" dirty="0">
                <a:solidFill>
                  <a:schemeClr val="dk1"/>
                </a:solidFill>
              </a:rPr>
              <a:t> to lock or unlock the door based on authentication. A </a:t>
            </a:r>
            <a:r>
              <a:rPr lang="en-US" sz="2300" b="1" dirty="0">
                <a:solidFill>
                  <a:schemeClr val="dk1"/>
                </a:solidFill>
              </a:rPr>
              <a:t>relay module</a:t>
            </a:r>
            <a:r>
              <a:rPr lang="en-US" sz="2300" dirty="0">
                <a:solidFill>
                  <a:schemeClr val="dk1"/>
                </a:solidFill>
              </a:rPr>
              <a:t> adds extra security, making it a </a:t>
            </a:r>
            <a:r>
              <a:rPr lang="en-US" sz="2300" b="1" dirty="0">
                <a:solidFill>
                  <a:schemeClr val="dk1"/>
                </a:solidFill>
              </a:rPr>
              <a:t>cost-effective, reliable, and user-friendly</a:t>
            </a:r>
            <a:r>
              <a:rPr lang="en-US" sz="2300" dirty="0">
                <a:solidFill>
                  <a:schemeClr val="dk1"/>
                </a:solidFill>
              </a:rPr>
              <a:t> solution for modern access control.</a:t>
            </a:r>
            <a:endParaRPr sz="2300" dirty="0"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title"/>
          </p:nvPr>
        </p:nvSpPr>
        <p:spPr>
          <a:xfrm>
            <a:off x="107504" y="97639"/>
            <a:ext cx="8715436" cy="101122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/>
              <a:t>Base paper (Tile/ author name/year of publication/findings)</a:t>
            </a:r>
            <a:endParaRPr sz="32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303284" y="1849747"/>
            <a:ext cx="83946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Title: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i="1" dirty="0">
                <a:solidFill>
                  <a:schemeClr val="dk1"/>
                </a:solidFill>
              </a:rPr>
              <a:t>Smart and Secure Door Lock with Dual-Factor Authentication for Restricted Access Control</a:t>
            </a:r>
            <a:endParaRPr sz="2400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Authors:</a:t>
            </a:r>
            <a:r>
              <a:rPr lang="en-US" sz="2400" dirty="0">
                <a:solidFill>
                  <a:schemeClr val="dk1"/>
                </a:solidFill>
              </a:rPr>
              <a:t> S. S. </a:t>
            </a:r>
            <a:r>
              <a:rPr lang="en-US" sz="2400" dirty="0" err="1">
                <a:solidFill>
                  <a:schemeClr val="dk1"/>
                </a:solidFill>
              </a:rPr>
              <a:t>Manivannan</a:t>
            </a:r>
            <a:r>
              <a:rPr lang="en-US" sz="2400" dirty="0">
                <a:solidFill>
                  <a:schemeClr val="dk1"/>
                </a:solidFill>
              </a:rPr>
              <a:t>, S. S. </a:t>
            </a:r>
            <a:r>
              <a:rPr lang="en-US" sz="2400" dirty="0" err="1">
                <a:solidFill>
                  <a:schemeClr val="dk1"/>
                </a:solidFill>
              </a:rPr>
              <a:t>Manivannan</a:t>
            </a:r>
            <a:r>
              <a:rPr lang="en-US" sz="2400" dirty="0">
                <a:solidFill>
                  <a:schemeClr val="dk1"/>
                </a:solidFill>
              </a:rPr>
              <a:t>, S. S. </a:t>
            </a:r>
            <a:r>
              <a:rPr lang="en-US" sz="2400" dirty="0" err="1">
                <a:solidFill>
                  <a:schemeClr val="dk1"/>
                </a:solidFill>
              </a:rPr>
              <a:t>Manivannan</a:t>
            </a:r>
            <a:r>
              <a:rPr lang="en-US" sz="2400" dirty="0">
                <a:solidFill>
                  <a:schemeClr val="dk1"/>
                </a:solidFill>
              </a:rPr>
              <a:t>, S. S. </a:t>
            </a:r>
            <a:r>
              <a:rPr lang="en-US" sz="2400" dirty="0" err="1">
                <a:solidFill>
                  <a:schemeClr val="dk1"/>
                </a:solidFill>
              </a:rPr>
              <a:t>Manivannan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Published in:</a:t>
            </a:r>
            <a:r>
              <a:rPr lang="en-US" sz="2400" dirty="0">
                <a:solidFill>
                  <a:schemeClr val="dk1"/>
                </a:solidFill>
              </a:rPr>
              <a:t> Mathematical Statistician and Engineering Applications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Vol./Issue:</a:t>
            </a:r>
            <a:r>
              <a:rPr lang="en-US" sz="2400" dirty="0">
                <a:solidFill>
                  <a:schemeClr val="dk1"/>
                </a:solidFill>
              </a:rPr>
              <a:t> Vol. 72, No. 1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Year of Publication:</a:t>
            </a:r>
            <a:r>
              <a:rPr lang="en-US" sz="2400" dirty="0">
                <a:solidFill>
                  <a:schemeClr val="dk1"/>
                </a:solidFill>
              </a:rPr>
              <a:t> 2023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Link:</a:t>
            </a:r>
            <a:r>
              <a:rPr lang="en-US" sz="2400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400" u="sng" dirty="0">
                <a:solidFill>
                  <a:schemeClr val="hlink"/>
                </a:solidFill>
                <a:hlinkClick r:id="rId3"/>
              </a:rPr>
              <a:t>https://www.philstat.org/index.php/MSEA/article/view/2373</a:t>
            </a:r>
            <a:endParaRPr sz="2400" u="sng" dirty="0">
              <a:solidFill>
                <a:schemeClr val="hlink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</a:t>
            </a:r>
            <a:endParaRPr/>
          </a:p>
        </p:txBody>
      </p:sp>
      <p:sp>
        <p:nvSpPr>
          <p:cNvPr id="184" name="Google Shape;184;p6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23752" y="188640"/>
            <a:ext cx="8715436" cy="51115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Block Diagram</a:t>
            </a:r>
            <a:endParaRPr sz="3200" b="1" cap="small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ECFA1D-4F16-39A3-F71E-7FA8B1667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06" y="864346"/>
            <a:ext cx="8613683" cy="59936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214282" y="590560"/>
            <a:ext cx="8715436" cy="51115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Block Diagram Explanation</a:t>
            </a:r>
            <a:endParaRPr sz="3200" b="1" cap="small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395536" y="1624608"/>
            <a:ext cx="8280900" cy="49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The system consists of: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dirty="0">
                <a:solidFill>
                  <a:schemeClr val="dk1"/>
                </a:solidFill>
              </a:rPr>
              <a:t>Input Modules:</a:t>
            </a:r>
            <a:endParaRPr sz="1800" b="1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b="1" dirty="0">
                <a:solidFill>
                  <a:schemeClr val="dk1"/>
                </a:solidFill>
              </a:rPr>
              <a:t>Keypad</a:t>
            </a:r>
            <a:r>
              <a:rPr lang="en-US" sz="1800" dirty="0">
                <a:solidFill>
                  <a:schemeClr val="dk1"/>
                </a:solidFill>
              </a:rPr>
              <a:t> – Enters the PIN for authentication.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b="1" dirty="0">
                <a:solidFill>
                  <a:schemeClr val="dk1"/>
                </a:solidFill>
              </a:rPr>
              <a:t>Fingerprint Sensor</a:t>
            </a:r>
            <a:r>
              <a:rPr lang="en-US" sz="1800" dirty="0">
                <a:solidFill>
                  <a:schemeClr val="dk1"/>
                </a:solidFill>
              </a:rPr>
              <a:t> – Scans and verifies the user.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dirty="0">
                <a:solidFill>
                  <a:schemeClr val="dk1"/>
                </a:solidFill>
              </a:rPr>
              <a:t>Processing Unit:</a:t>
            </a:r>
            <a:endParaRPr sz="1800" b="1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b="1" dirty="0">
                <a:solidFill>
                  <a:schemeClr val="dk1"/>
                </a:solidFill>
              </a:rPr>
              <a:t>Arduino Uno</a:t>
            </a:r>
            <a:r>
              <a:rPr lang="en-US" sz="1800" dirty="0">
                <a:solidFill>
                  <a:schemeClr val="dk1"/>
                </a:solidFill>
              </a:rPr>
              <a:t> – Controls authentication and door operations.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dirty="0">
                <a:solidFill>
                  <a:schemeClr val="dk1"/>
                </a:solidFill>
              </a:rPr>
              <a:t>Output Modules:</a:t>
            </a:r>
            <a:endParaRPr sz="1800" b="1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b="1" dirty="0">
                <a:solidFill>
                  <a:schemeClr val="dk1"/>
                </a:solidFill>
              </a:rPr>
              <a:t>Servo Motor</a:t>
            </a:r>
            <a:r>
              <a:rPr lang="en-US" sz="1800" dirty="0">
                <a:solidFill>
                  <a:schemeClr val="dk1"/>
                </a:solidFill>
              </a:rPr>
              <a:t> – Unlocks the door on successful authentication.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b="1" dirty="0">
                <a:solidFill>
                  <a:schemeClr val="dk1"/>
                </a:solidFill>
              </a:rPr>
              <a:t>Relay Module</a:t>
            </a:r>
            <a:r>
              <a:rPr lang="en-US" sz="1800" dirty="0">
                <a:solidFill>
                  <a:schemeClr val="dk1"/>
                </a:solidFill>
              </a:rPr>
              <a:t> – Enhances security by controlling external locks.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1" dirty="0">
                <a:solidFill>
                  <a:schemeClr val="dk1"/>
                </a:solidFill>
              </a:rPr>
              <a:t>Power Supply:</a:t>
            </a:r>
            <a:endParaRPr sz="1800" b="1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>
                <a:solidFill>
                  <a:schemeClr val="dk1"/>
                </a:solidFill>
              </a:rPr>
              <a:t>A </a:t>
            </a:r>
            <a:r>
              <a:rPr lang="en-US" sz="1800" b="1" dirty="0">
                <a:solidFill>
                  <a:schemeClr val="dk1"/>
                </a:solidFill>
              </a:rPr>
              <a:t>9V battery</a:t>
            </a:r>
            <a:r>
              <a:rPr lang="en-US" sz="1800" dirty="0">
                <a:solidFill>
                  <a:schemeClr val="dk1"/>
                </a:solidFill>
              </a:rPr>
              <a:t> powers the system.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</a:rPr>
              <a:t>Working:</a:t>
            </a:r>
            <a:r>
              <a:rPr lang="en-US" sz="1800" dirty="0">
                <a:solidFill>
                  <a:schemeClr val="dk1"/>
                </a:solidFill>
              </a:rPr>
              <a:t> The user enters a </a:t>
            </a:r>
            <a:r>
              <a:rPr lang="en-US" sz="1800" b="1" dirty="0">
                <a:solidFill>
                  <a:schemeClr val="dk1"/>
                </a:solidFill>
              </a:rPr>
              <a:t>PIN</a:t>
            </a:r>
            <a:r>
              <a:rPr lang="en-US" sz="1800" dirty="0">
                <a:solidFill>
                  <a:schemeClr val="dk1"/>
                </a:solidFill>
              </a:rPr>
              <a:t>, followed by a </a:t>
            </a:r>
            <a:r>
              <a:rPr lang="en-US" sz="1800" b="1" dirty="0">
                <a:solidFill>
                  <a:schemeClr val="dk1"/>
                </a:solidFill>
              </a:rPr>
              <a:t>fingerprint scan</a:t>
            </a:r>
            <a:r>
              <a:rPr lang="en-US" sz="1800" dirty="0">
                <a:solidFill>
                  <a:schemeClr val="dk1"/>
                </a:solidFill>
              </a:rPr>
              <a:t>. If both match, the </a:t>
            </a:r>
            <a:r>
              <a:rPr lang="en-US" sz="1800" b="1" dirty="0">
                <a:solidFill>
                  <a:schemeClr val="dk1"/>
                </a:solidFill>
              </a:rPr>
              <a:t>servo motor unlocks the door</a:t>
            </a:r>
            <a:r>
              <a:rPr lang="en-US" sz="1800" dirty="0">
                <a:solidFill>
                  <a:schemeClr val="dk1"/>
                </a:solidFill>
              </a:rPr>
              <a:t>; otherwise, access is denied. 🚪🔒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467600" cy="56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7F7F7F"/>
                </a:solidFill>
              </a:rPr>
              <a:t>   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199" name="Google Shape;199;p9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23752" y="188640"/>
            <a:ext cx="8715436" cy="51115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Circuit Diagram </a:t>
            </a:r>
            <a:endParaRPr sz="3200" b="1" cap="small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01" name="Google Shape;20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575" y="1412775"/>
            <a:ext cx="7228240" cy="44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467990" y="870868"/>
            <a:ext cx="8055600" cy="6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The </a:t>
            </a:r>
            <a:r>
              <a:rPr lang="en-US" sz="1800" b="1" dirty="0" err="1">
                <a:solidFill>
                  <a:schemeClr val="dk1"/>
                </a:solidFill>
              </a:rPr>
              <a:t>IntelliLock</a:t>
            </a:r>
            <a:r>
              <a:rPr lang="en-US" sz="1800" b="1" dirty="0">
                <a:solidFill>
                  <a:schemeClr val="dk1"/>
                </a:solidFill>
              </a:rPr>
              <a:t>: Dual Authentication Smart Door System</a:t>
            </a:r>
            <a:r>
              <a:rPr lang="en-US" sz="1800" dirty="0">
                <a:solidFill>
                  <a:schemeClr val="dk1"/>
                </a:solidFill>
              </a:rPr>
              <a:t> is designed to enhance security using a </a:t>
            </a:r>
            <a:r>
              <a:rPr lang="en-US" sz="1800" b="1" dirty="0">
                <a:solidFill>
                  <a:schemeClr val="dk1"/>
                </a:solidFill>
              </a:rPr>
              <a:t>dual authentication process</a:t>
            </a:r>
            <a:r>
              <a:rPr lang="en-US" sz="1800" dirty="0">
                <a:solidFill>
                  <a:schemeClr val="dk1"/>
                </a:solidFill>
              </a:rPr>
              <a:t>. The circuit consists of the following components: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</a:rPr>
              <a:t>1. Power Supply: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A </a:t>
            </a:r>
            <a:r>
              <a:rPr lang="en-US" sz="1800" b="1" dirty="0">
                <a:solidFill>
                  <a:schemeClr val="dk1"/>
                </a:solidFill>
              </a:rPr>
              <a:t>9V battery</a:t>
            </a:r>
            <a:r>
              <a:rPr lang="en-US" sz="1800" dirty="0">
                <a:solidFill>
                  <a:schemeClr val="dk1"/>
                </a:solidFill>
              </a:rPr>
              <a:t> provides power to the Arduino Uno and all connected components.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</a:rPr>
              <a:t>2. Input Components: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</a:rPr>
              <a:t>Keypad (4x4):</a:t>
            </a:r>
            <a:r>
              <a:rPr lang="en-US" sz="1800" dirty="0">
                <a:solidFill>
                  <a:schemeClr val="dk1"/>
                </a:solidFill>
              </a:rPr>
              <a:t> Allows users to enter a PIN for the first authentication step.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</a:rPr>
              <a:t>Fingerprint Sensor:</a:t>
            </a:r>
            <a:r>
              <a:rPr lang="en-US" sz="1800" dirty="0">
                <a:solidFill>
                  <a:schemeClr val="dk1"/>
                </a:solidFill>
              </a:rPr>
              <a:t> Captures and verifies the user’s fingerprint for the second authentication step.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</a:rPr>
              <a:t>3. Processing Unit: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</a:rPr>
              <a:t>Arduino Uno:</a:t>
            </a:r>
            <a:r>
              <a:rPr lang="en-US" sz="1800" dirty="0">
                <a:solidFill>
                  <a:schemeClr val="dk1"/>
                </a:solidFill>
              </a:rPr>
              <a:t> Acts as the brain of the system, processing input from the keypad and fingerprint sensor and controlling the locking mechanism accordingly.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106040" y="210254"/>
            <a:ext cx="8715436" cy="51115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Circuit Explanation</a:t>
            </a:r>
            <a:endParaRPr sz="3200" b="1" cap="small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628328" y="1245929"/>
            <a:ext cx="7806000" cy="49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</a:rPr>
              <a:t>4. Output Components: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</a:rPr>
              <a:t>Servo Motor:</a:t>
            </a:r>
            <a:r>
              <a:rPr lang="en-US" sz="1800" dirty="0">
                <a:solidFill>
                  <a:schemeClr val="dk1"/>
                </a:solidFill>
              </a:rPr>
              <a:t> Unlocks the door when authentication is successful.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</a:rPr>
              <a:t>Relay Module:</a:t>
            </a:r>
            <a:r>
              <a:rPr lang="en-US" sz="1800" dirty="0">
                <a:solidFill>
                  <a:schemeClr val="dk1"/>
                </a:solidFill>
              </a:rPr>
              <a:t> Adds an extra layer of security by controlling external locks or alarms.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</a:rPr>
              <a:t>Working Principle: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The user </a:t>
            </a:r>
            <a:r>
              <a:rPr lang="en-US" sz="1800" b="1" dirty="0">
                <a:solidFill>
                  <a:schemeClr val="dk1"/>
                </a:solidFill>
              </a:rPr>
              <a:t>enters a PIN</a:t>
            </a:r>
            <a:r>
              <a:rPr lang="en-US" sz="1800" dirty="0">
                <a:solidFill>
                  <a:schemeClr val="dk1"/>
                </a:solidFill>
              </a:rPr>
              <a:t> on the keypad. If correct, the system proceeds to fingerprint verification.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The </a:t>
            </a:r>
            <a:r>
              <a:rPr lang="en-US" sz="1800" b="1" dirty="0">
                <a:solidFill>
                  <a:schemeClr val="dk1"/>
                </a:solidFill>
              </a:rPr>
              <a:t>fingerprint sensor</a:t>
            </a:r>
            <a:r>
              <a:rPr lang="en-US" sz="1800" dirty="0">
                <a:solidFill>
                  <a:schemeClr val="dk1"/>
                </a:solidFill>
              </a:rPr>
              <a:t> scans and matches the stored fingerprint.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solidFill>
                  <a:schemeClr val="dk1"/>
                </a:solidFill>
              </a:rPr>
              <a:t>If </a:t>
            </a:r>
            <a:r>
              <a:rPr lang="en-US" sz="1800" b="1" dirty="0">
                <a:solidFill>
                  <a:schemeClr val="dk1"/>
                </a:solidFill>
              </a:rPr>
              <a:t>both</a:t>
            </a:r>
            <a:r>
              <a:rPr lang="en-US" sz="1800" dirty="0">
                <a:solidFill>
                  <a:schemeClr val="dk1"/>
                </a:solidFill>
              </a:rPr>
              <a:t> authentication steps are successful, the </a:t>
            </a:r>
            <a:r>
              <a:rPr lang="en-US" sz="1800" b="1" dirty="0">
                <a:solidFill>
                  <a:schemeClr val="dk1"/>
                </a:solidFill>
              </a:rPr>
              <a:t>servo motor unlocks the door</a:t>
            </a:r>
            <a:r>
              <a:rPr lang="en-US" sz="1800" dirty="0">
                <a:solidFill>
                  <a:schemeClr val="dk1"/>
                </a:solidFill>
              </a:rPr>
              <a:t>. Otherwise, access is denied.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This circuit provides a </a:t>
            </a:r>
            <a:r>
              <a:rPr lang="en-US" sz="1800" b="1" dirty="0">
                <a:solidFill>
                  <a:schemeClr val="dk1"/>
                </a:solidFill>
              </a:rPr>
              <a:t>cost-effective, automated, and reliable</a:t>
            </a:r>
            <a:r>
              <a:rPr lang="en-US" sz="1800" dirty="0">
                <a:solidFill>
                  <a:schemeClr val="dk1"/>
                </a:solidFill>
              </a:rPr>
              <a:t> security solution for restricted areas. 🚪🔒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107504" y="294110"/>
            <a:ext cx="8715436" cy="51115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Circuit Explanation</a:t>
            </a:r>
            <a:endParaRPr sz="3200" b="1" cap="small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21" name="Google Shape;221;p12"/>
          <p:cNvSpPr txBox="1">
            <a:spLocks noGrp="1"/>
          </p:cNvSpPr>
          <p:nvPr>
            <p:ph type="title"/>
          </p:nvPr>
        </p:nvSpPr>
        <p:spPr>
          <a:xfrm>
            <a:off x="94739" y="232717"/>
            <a:ext cx="8715436" cy="51115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/>
              <a:t>Project Work Plan</a:t>
            </a:r>
            <a:endParaRPr sz="3200" b="1"/>
          </a:p>
        </p:txBody>
      </p:sp>
      <p:sp>
        <p:nvSpPr>
          <p:cNvPr id="222" name="Google Shape;222;p12"/>
          <p:cNvSpPr txBox="1"/>
          <p:nvPr/>
        </p:nvSpPr>
        <p:spPr>
          <a:xfrm>
            <a:off x="120674" y="1280160"/>
            <a:ext cx="8689500" cy="5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</a:rPr>
              <a:t>Research &amp; Component Selection (Week 1)</a:t>
            </a:r>
            <a:r>
              <a:rPr lang="en-US" sz="2400" dirty="0">
                <a:solidFill>
                  <a:schemeClr val="dk1"/>
                </a:solidFill>
              </a:rPr>
              <a:t> – Select components and study existing systems.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</a:rPr>
              <a:t>Circuit Design &amp; Hardware Setup (Week 2-3)</a:t>
            </a:r>
            <a:r>
              <a:rPr lang="en-US" sz="2400" dirty="0">
                <a:solidFill>
                  <a:schemeClr val="dk1"/>
                </a:solidFill>
              </a:rPr>
              <a:t> – Assemble and test circuit connections.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</a:rPr>
              <a:t>Software Development (Week 4-5)</a:t>
            </a:r>
            <a:r>
              <a:rPr lang="en-US" sz="2400" dirty="0">
                <a:solidFill>
                  <a:schemeClr val="dk1"/>
                </a:solidFill>
              </a:rPr>
              <a:t> – Write and debug Arduino code for authentication.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</a:rPr>
              <a:t>Testing &amp; Final Integration (Week 6)</a:t>
            </a:r>
            <a:r>
              <a:rPr lang="en-US" sz="2400" dirty="0">
                <a:solidFill>
                  <a:schemeClr val="dk1"/>
                </a:solidFill>
              </a:rPr>
              <a:t> – Test and optimize system performance.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1" dirty="0">
                <a:solidFill>
                  <a:schemeClr val="dk1"/>
                </a:solidFill>
              </a:rPr>
              <a:t>Documentation &amp; Presentation (Week 7-8)</a:t>
            </a:r>
            <a:r>
              <a:rPr lang="en-US" sz="2400" dirty="0">
                <a:solidFill>
                  <a:schemeClr val="dk1"/>
                </a:solidFill>
              </a:rPr>
              <a:t> – Prepare reports, PPT, and final demonstration.</a:t>
            </a:r>
            <a:endParaRPr sz="2400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title"/>
          </p:nvPr>
        </p:nvSpPr>
        <p:spPr>
          <a:xfrm>
            <a:off x="142844" y="131763"/>
            <a:ext cx="8715436" cy="58259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/>
              <a:t>References</a:t>
            </a:r>
            <a:endParaRPr sz="3200" b="1"/>
          </a:p>
        </p:txBody>
      </p:sp>
      <p:sp>
        <p:nvSpPr>
          <p:cNvPr id="229" name="Google Shape;229;p13"/>
          <p:cNvSpPr txBox="1"/>
          <p:nvPr/>
        </p:nvSpPr>
        <p:spPr>
          <a:xfrm>
            <a:off x="280703" y="958685"/>
            <a:ext cx="7848900" cy="5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"Electric Line Man Safety with Password Based Circuit Breaker"</a:t>
            </a:r>
            <a:b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Authors: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Shreya Laxman Dasar,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Rutu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Gomateshwar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Kadage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Minakshi Popat Mane, Purva Shital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Athane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Pravin Kumar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Karve</a:t>
            </a:r>
            <a:b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Published in: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International Journal of Research Publication and Reviews, Vol. 5, Issue 4, April 2024</a:t>
            </a:r>
            <a:b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Summary: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This paper discusses a system designed to enhance the safety of electric linemen by implementing a password-based circuit breaker. The system ensures that maintenance personnel can safely work on electrical lines by controlling the circuit breaker through secure password authentication.</a:t>
            </a:r>
            <a:b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Link: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u="sng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https://ijrpr.com/uploads/V5ISSUE4/IJRPR24515.pdf</a:t>
            </a:r>
            <a:endParaRPr sz="2400" u="sng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251520" y="1272952"/>
            <a:ext cx="72729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"A Systematic Literature Review of the Types of Authentication Safety Practices among Internet Users"</a:t>
            </a:r>
            <a:endParaRPr sz="2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Authors: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Krishnapriyaa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Kovalan</a:t>
            </a:r>
            <a:r>
              <a:rPr lang="en-US" sz="2400" dirty="0">
                <a:solidFill>
                  <a:schemeClr val="dk1"/>
                </a:solidFill>
              </a:rPr>
              <a:t>, Siti </a:t>
            </a:r>
            <a:r>
              <a:rPr lang="en-US" sz="2400" dirty="0" err="1">
                <a:solidFill>
                  <a:schemeClr val="dk1"/>
                </a:solidFill>
              </a:rPr>
              <a:t>Zobidah</a:t>
            </a:r>
            <a:r>
              <a:rPr lang="en-US" sz="2400" dirty="0">
                <a:solidFill>
                  <a:schemeClr val="dk1"/>
                </a:solidFill>
              </a:rPr>
              <a:t> Omar, Lian Tang, </a:t>
            </a:r>
            <a:r>
              <a:rPr lang="en-US" sz="2400" dirty="0" err="1">
                <a:solidFill>
                  <a:schemeClr val="dk1"/>
                </a:solidFill>
              </a:rPr>
              <a:t>Jusang</a:t>
            </a:r>
            <a:r>
              <a:rPr lang="en-US" sz="2400" dirty="0">
                <a:solidFill>
                  <a:schemeClr val="dk1"/>
                </a:solidFill>
              </a:rPr>
              <a:t> Bolong, Rusli Abdullah, </a:t>
            </a:r>
            <a:r>
              <a:rPr lang="en-US" sz="2400" dirty="0" err="1">
                <a:solidFill>
                  <a:schemeClr val="dk1"/>
                </a:solidFill>
              </a:rPr>
              <a:t>Akmar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 err="1">
                <a:solidFill>
                  <a:schemeClr val="dk1"/>
                </a:solidFill>
              </a:rPr>
              <a:t>Hayati</a:t>
            </a:r>
            <a:r>
              <a:rPr lang="en-US" sz="2400" dirty="0">
                <a:solidFill>
                  <a:schemeClr val="dk1"/>
                </a:solidFill>
              </a:rPr>
              <a:t> Ahmad Ghazali, Muhammad Adnan </a:t>
            </a:r>
            <a:r>
              <a:rPr lang="en-US" sz="2400" dirty="0" err="1">
                <a:solidFill>
                  <a:schemeClr val="dk1"/>
                </a:solidFill>
              </a:rPr>
              <a:t>Pitchan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</a:rPr>
              <a:t>Published in:</a:t>
            </a:r>
            <a:r>
              <a:rPr lang="en-US" sz="2400" dirty="0">
                <a:solidFill>
                  <a:schemeClr val="dk1"/>
                </a:solidFill>
              </a:rPr>
              <a:t> International Journal of Advanced Computer Science and Applications (IJACSA), Vol. 12, No. 7, 2021</a:t>
            </a: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</a:rPr>
              <a:t>Link:</a:t>
            </a:r>
            <a:r>
              <a:rPr lang="en-US" sz="2400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400" u="sng" dirty="0">
                <a:solidFill>
                  <a:schemeClr val="hlink"/>
                </a:solidFill>
                <a:hlinkClick r:id="rId3"/>
              </a:rPr>
              <a:t>https://thesai.org/Publications/ViewPaper?Code=IJACSA&amp;Issue=7&amp;SerialNo=92&amp;Volume=12</a:t>
            </a:r>
            <a:endParaRPr sz="2400" b="1" dirty="0">
              <a:solidFill>
                <a:schemeClr val="dk1"/>
              </a:solidFill>
            </a:endParaRPr>
          </a:p>
        </p:txBody>
      </p:sp>
      <p:sp>
        <p:nvSpPr>
          <p:cNvPr id="236" name="Google Shape;236;p14"/>
          <p:cNvSpPr txBox="1">
            <a:spLocks noGrp="1"/>
          </p:cNvSpPr>
          <p:nvPr>
            <p:ph type="title"/>
          </p:nvPr>
        </p:nvSpPr>
        <p:spPr>
          <a:xfrm>
            <a:off x="107504" y="311953"/>
            <a:ext cx="8715436" cy="58259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/>
              <a:t>References</a:t>
            </a:r>
            <a:endParaRPr sz="32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>
            <a:spLocks noGrp="1"/>
          </p:cNvSpPr>
          <p:nvPr>
            <p:ph type="sldNum" idx="12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42" name="Google Shape;2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1056</Words>
  <Application>Microsoft Office PowerPoint</Application>
  <PresentationFormat>On-screen Show (4:3)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Century Schoolbook</vt:lpstr>
      <vt:lpstr>Cambria</vt:lpstr>
      <vt:lpstr>Noto Sans Symbols</vt:lpstr>
      <vt:lpstr>Arial</vt:lpstr>
      <vt:lpstr>Calibri</vt:lpstr>
      <vt:lpstr>Oriel</vt:lpstr>
      <vt:lpstr>PowerPoint Presentation</vt:lpstr>
      <vt:lpstr>Objectives of the project work</vt:lpstr>
      <vt:lpstr>Abstract of the project work</vt:lpstr>
      <vt:lpstr>PowerPoint Presentation</vt:lpstr>
      <vt:lpstr>Base paper (Tile/ author name/year of publication/findings)</vt:lpstr>
      <vt:lpstr>   </vt:lpstr>
      <vt:lpstr>PowerPoint Presentation</vt:lpstr>
      <vt:lpstr>   </vt:lpstr>
      <vt:lpstr>PowerPoint Presentation</vt:lpstr>
      <vt:lpstr>PowerPoint Presentation</vt:lpstr>
      <vt:lpstr>Project Work Plan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Antony Alex S</cp:lastModifiedBy>
  <cp:revision>4</cp:revision>
  <dcterms:created xsi:type="dcterms:W3CDTF">2008-02-10T00:48:09Z</dcterms:created>
  <dcterms:modified xsi:type="dcterms:W3CDTF">2025-02-25T17:35:52Z</dcterms:modified>
</cp:coreProperties>
</file>